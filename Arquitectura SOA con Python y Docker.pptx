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70" r:id="rId8"/>
    <p:sldId id="269" r:id="rId9"/>
    <p:sldId id="271" r:id="rId10"/>
    <p:sldId id="263" r:id="rId11"/>
    <p:sldId id="264" r:id="rId12"/>
    <p:sldId id="265" r:id="rId13"/>
    <p:sldId id="267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ato Light" panose="020F0502020204030203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CB8392-9693-447B-BC7F-43B806017C8A}">
  <a:tblStyle styleId="{78CB8392-9693-447B-BC7F-43B806017C8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661219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75985"/>
                </a:solidFill>
                <a:latin typeface="Poppins"/>
                <a:ea typeface="Poppins"/>
                <a:cs typeface="Poppins"/>
                <a:sym typeface="Poppins"/>
              </a:rPr>
              <a:t>Arquitectura Orientada a Servicios (SOA)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26941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Implementación de Ecosistema con Python, Flask y Docker Compose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701331"/>
            <a:ext cx="11049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Infraestructura</a:t>
            </a:r>
            <a:r>
              <a:rPr lang="en-US" sz="1500" b="1" i="0" u="none" strike="noStrike" cap="none" dirty="0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1" i="0" u="none" strike="noStrike" cap="none" dirty="0" err="1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Microservicios</a:t>
            </a:r>
            <a:r>
              <a:rPr lang="en-US" sz="1500" b="1" i="0" u="none" strike="noStrike" cap="none" dirty="0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 SOAP &amp; ESB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1" dirty="0">
              <a:solidFill>
                <a:srgbClr val="0EA5E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Rene Plaz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PRINCIPIOS FUNDAMENTALES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22955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Acoplamiento Flexible: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Independencia entre proveedores y consumidores.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31432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Interoperabilidad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Comunicación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estándar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mediante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protocolos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abiertos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(SOAP/WSDL).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39909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Abstracción: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Lógica oculta tras interfaces de servicio definidas.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48387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Reutilización: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Servicios modulares aplicables a múltiples procesos.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74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051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528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006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0B6AA12-78BF-88E9-CB6C-A0E0A122CA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2867025"/>
            <a:ext cx="5864772" cy="1771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3625"/>
            <a:ext cx="349240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33625"/>
            <a:ext cx="3492549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33625"/>
            <a:ext cx="349240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ECOSISTEMA TECNOLÓGICO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7675" y="275272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84239" y="3400425"/>
            <a:ext cx="286692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Backend Python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52500" y="3924300"/>
            <a:ext cx="273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Uso de Flask y Spyne para la creación de servicios SOAP robustos y ligeros.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38676" y="27527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4662387" y="3400425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Middleware ESB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4730650" y="3924300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Orquestación centralizada con WSO2 / Apache ServiceMix para enrutamiento.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88400" y="27527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440690" y="3400425"/>
            <a:ext cx="286692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Contenerización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508950" y="3924300"/>
            <a:ext cx="273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Docker Compose para gestionar 5 microservicios aislados y replicables.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858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69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ARQUITECTURA DE LA SOLUCIÓN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6381750" y="2032694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Flujo de Información Niveles:</a:t>
            </a:r>
            <a:endParaRPr/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776019"/>
            <a:ext cx="5238750" cy="77331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6457950" y="2461319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6572250" y="2461319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Capa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Cliente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Web App Python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interactuando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vía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Cliente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Zeep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6457950" y="314131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6572250" y="3070919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Capa de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Mediación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Bus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Servicios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(ESB)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validando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contratos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SOAP.</a:t>
            </a:r>
            <a:endParaRPr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6457950" y="381282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6572250" y="3728144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Capa de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Servicios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Servicios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SOAP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especializados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Spyne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6467475" y="45243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6572250" y="4423469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Capa de Datos: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Persistencia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MySQL con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volúmenes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Docker.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9AE4C1-B960-2F1C-CF67-519E2C2CF2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1771650"/>
            <a:ext cx="6038850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3625"/>
            <a:ext cx="349240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33625"/>
            <a:ext cx="3492549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333625"/>
            <a:ext cx="349240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DETALLE DE SERVICIOS SOAP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9100" y="27527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84239" y="3400425"/>
            <a:ext cx="286692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Consulta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52500" y="3924300"/>
            <a:ext cx="273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Puerto: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5002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Acceso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citas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existentes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mediante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filtros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251" y="27527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4662387" y="3400425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Registro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730650" y="3924300"/>
            <a:ext cx="27305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Puerto: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5001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Inserción de nuevas citas validando integridad de datos.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5550" y="27527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8440690" y="3400425"/>
            <a:ext cx="286692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Actualización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508950" y="3924300"/>
            <a:ext cx="273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Puerto: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5003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Modificación de registros de citas existentes.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762000" y="762000"/>
            <a:ext cx="500062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 ROL CRÍTICO DEL ESB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762000"/>
            <a:ext cx="57150" cy="1200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24384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Bus de Servicios Empresariales actúa como el "sistema nervioso" de nuestra arquitectura SOA.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38200" y="35052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52500" y="34290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Enrutamiento Inteligente: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Redirige peticiones SOAP al servicio correcto.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38200" y="41910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52500" y="414337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Transformación: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Capacidad de adaptar mensajes entre protocolos si fuera necesario.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38200" y="48291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952500" y="475297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Seguridad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Punto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único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aplicación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políticas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acceso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C65F6E6-B944-BFAD-2349-93A6BDE47E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01" t="794" r="1058" b="1745"/>
          <a:stretch>
            <a:fillRect/>
          </a:stretch>
        </p:blipFill>
        <p:spPr>
          <a:xfrm>
            <a:off x="6125473" y="2257424"/>
            <a:ext cx="5761727" cy="32575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5C152-0489-E454-A268-8636481D5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3551AF62-FE4B-5963-E6A3-D2E3130AD35D}"/>
              </a:ext>
            </a:extLst>
          </p:cNvPr>
          <p:cNvGrpSpPr/>
          <p:nvPr/>
        </p:nvGrpSpPr>
        <p:grpSpPr>
          <a:xfrm>
            <a:off x="937725" y="1890712"/>
            <a:ext cx="3492549" cy="3076575"/>
            <a:chOff x="4349650" y="2333625"/>
            <a:chExt cx="3492549" cy="3076575"/>
          </a:xfrm>
        </p:grpSpPr>
        <p:pic>
          <p:nvPicPr>
            <p:cNvPr id="9" name="Google Shape;158;p18" descr="image.png">
              <a:extLst>
                <a:ext uri="{FF2B5EF4-FFF2-40B4-BE49-F238E27FC236}">
                  <a16:creationId xmlns:a16="http://schemas.microsoft.com/office/drawing/2014/main" id="{9DB5ACEF-A6E8-EE62-96CC-C63D5223966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4349650" y="2333625"/>
              <a:ext cx="3492549" cy="307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65;p18" descr="image.png">
              <a:extLst>
                <a:ext uri="{FF2B5EF4-FFF2-40B4-BE49-F238E27FC236}">
                  <a16:creationId xmlns:a16="http://schemas.microsoft.com/office/drawing/2014/main" id="{FC019B26-B750-5618-20FB-1A58B7555B6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867251" y="2752725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66;p18">
              <a:extLst>
                <a:ext uri="{FF2B5EF4-FFF2-40B4-BE49-F238E27FC236}">
                  <a16:creationId xmlns:a16="http://schemas.microsoft.com/office/drawing/2014/main" id="{E59DD614-D1D4-F2F6-13B8-78067ED90437}"/>
                </a:ext>
              </a:extLst>
            </p:cNvPr>
            <p:cNvSpPr txBox="1"/>
            <p:nvPr/>
          </p:nvSpPr>
          <p:spPr>
            <a:xfrm>
              <a:off x="4662387" y="3400425"/>
              <a:ext cx="2867077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Registro</a:t>
              </a:r>
              <a:endParaRPr/>
            </a:p>
          </p:txBody>
        </p:sp>
        <p:sp>
          <p:nvSpPr>
            <p:cNvPr id="12" name="Google Shape;167;p18">
              <a:extLst>
                <a:ext uri="{FF2B5EF4-FFF2-40B4-BE49-F238E27FC236}">
                  <a16:creationId xmlns:a16="http://schemas.microsoft.com/office/drawing/2014/main" id="{976EA019-7DFA-E193-4AA0-B6E54DA34BC8}"/>
                </a:ext>
              </a:extLst>
            </p:cNvPr>
            <p:cNvSpPr txBox="1"/>
            <p:nvPr/>
          </p:nvSpPr>
          <p:spPr>
            <a:xfrm>
              <a:off x="4730650" y="3924300"/>
              <a:ext cx="2730549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Puerto: </a:t>
              </a:r>
              <a:r>
                <a:rPr lang="en-US" sz="1500" b="1" i="0" u="none" strike="noStrike" cap="non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5001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500" b="0" i="0" u="none" strike="noStrike" cap="non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Inserción de nuevas citas validando integridad de datos.</a:t>
              </a:r>
              <a:endParaRPr/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F18EE5E1-F185-51BA-7B3A-EB167FD7D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311" y="0"/>
            <a:ext cx="6734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65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393F59B2-D0D8-5D52-21AF-A518A39C3341}"/>
              </a:ext>
            </a:extLst>
          </p:cNvPr>
          <p:cNvGrpSpPr/>
          <p:nvPr/>
        </p:nvGrpSpPr>
        <p:grpSpPr>
          <a:xfrm>
            <a:off x="1239156" y="1890712"/>
            <a:ext cx="3492400" cy="3076575"/>
            <a:chOff x="1166586" y="229057"/>
            <a:chExt cx="3492400" cy="3076575"/>
          </a:xfrm>
        </p:grpSpPr>
        <p:pic>
          <p:nvPicPr>
            <p:cNvPr id="16" name="Google Shape;157;p18" descr="image.png">
              <a:extLst>
                <a:ext uri="{FF2B5EF4-FFF2-40B4-BE49-F238E27FC236}">
                  <a16:creationId xmlns:a16="http://schemas.microsoft.com/office/drawing/2014/main" id="{D3122F29-DD05-4F38-007A-E9C6E414F13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66586" y="229057"/>
              <a:ext cx="3492400" cy="307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62;p18" descr="image.png">
              <a:extLst>
                <a:ext uri="{FF2B5EF4-FFF2-40B4-BE49-F238E27FC236}">
                  <a16:creationId xmlns:a16="http://schemas.microsoft.com/office/drawing/2014/main" id="{424FF63F-1C37-3D80-7014-F22B85BF495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84186" y="648157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163;p18">
              <a:extLst>
                <a:ext uri="{FF2B5EF4-FFF2-40B4-BE49-F238E27FC236}">
                  <a16:creationId xmlns:a16="http://schemas.microsoft.com/office/drawing/2014/main" id="{53184241-7E4B-6E33-E4C4-C7A162B58C02}"/>
                </a:ext>
              </a:extLst>
            </p:cNvPr>
            <p:cNvSpPr txBox="1"/>
            <p:nvPr/>
          </p:nvSpPr>
          <p:spPr>
            <a:xfrm>
              <a:off x="1479325" y="1295857"/>
              <a:ext cx="286692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Consulta</a:t>
              </a:r>
              <a:endParaRPr/>
            </a:p>
          </p:txBody>
        </p:sp>
        <p:sp>
          <p:nvSpPr>
            <p:cNvPr id="19" name="Google Shape;164;p18">
              <a:extLst>
                <a:ext uri="{FF2B5EF4-FFF2-40B4-BE49-F238E27FC236}">
                  <a16:creationId xmlns:a16="http://schemas.microsoft.com/office/drawing/2014/main" id="{74471B07-E7DA-A0ED-14DC-B19A5757093D}"/>
                </a:ext>
              </a:extLst>
            </p:cNvPr>
            <p:cNvSpPr txBox="1"/>
            <p:nvPr/>
          </p:nvSpPr>
          <p:spPr>
            <a:xfrm>
              <a:off x="1547586" y="1819732"/>
              <a:ext cx="27304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Puerto: </a:t>
              </a:r>
              <a:r>
                <a:rPr lang="en-US" sz="1500" b="1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5002</a:t>
              </a:r>
              <a:b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Acceso</a:t>
              </a: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a </a:t>
              </a:r>
              <a:r>
                <a:rPr lang="en-US" sz="1500" b="0" i="0" u="none" strike="noStrike" cap="none" dirty="0" err="1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datos</a:t>
              </a: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de </a:t>
              </a:r>
              <a:r>
                <a:rPr lang="en-US" sz="1500" b="0" i="0" u="none" strike="noStrike" cap="none" dirty="0" err="1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citas</a:t>
              </a: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existentes</a:t>
              </a: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mediante</a:t>
              </a: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filtros</a:t>
              </a: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dirty="0"/>
            </a:p>
          </p:txBody>
        </p: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3CAA9093-61A3-CB2B-AC29-50C756C4D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073" y="0"/>
            <a:ext cx="59739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520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9A010-A956-99CC-05D7-A99380C06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E6CAECB1-304B-DA95-2EBB-0D843271ACE0}"/>
              </a:ext>
            </a:extLst>
          </p:cNvPr>
          <p:cNvGrpSpPr/>
          <p:nvPr/>
        </p:nvGrpSpPr>
        <p:grpSpPr>
          <a:xfrm>
            <a:off x="1103036" y="1890712"/>
            <a:ext cx="3492400" cy="3076575"/>
            <a:chOff x="8127950" y="2333625"/>
            <a:chExt cx="3492400" cy="3076575"/>
          </a:xfrm>
        </p:grpSpPr>
        <p:pic>
          <p:nvPicPr>
            <p:cNvPr id="4" name="Google Shape;159;p18" descr="image.png">
              <a:extLst>
                <a:ext uri="{FF2B5EF4-FFF2-40B4-BE49-F238E27FC236}">
                  <a16:creationId xmlns:a16="http://schemas.microsoft.com/office/drawing/2014/main" id="{6FF58D9A-6006-75B9-9CCF-484CB924C45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127950" y="2333625"/>
              <a:ext cx="3492400" cy="307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168;p18" descr="image.png">
              <a:extLst>
                <a:ext uri="{FF2B5EF4-FFF2-40B4-BE49-F238E27FC236}">
                  <a16:creationId xmlns:a16="http://schemas.microsoft.com/office/drawing/2014/main" id="{E2684F2E-E882-216D-5CBD-23BB37F5D6B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645550" y="2752725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169;p18">
              <a:extLst>
                <a:ext uri="{FF2B5EF4-FFF2-40B4-BE49-F238E27FC236}">
                  <a16:creationId xmlns:a16="http://schemas.microsoft.com/office/drawing/2014/main" id="{0E829962-DC81-8A6E-1B7F-562EAE2388BC}"/>
                </a:ext>
              </a:extLst>
            </p:cNvPr>
            <p:cNvSpPr txBox="1"/>
            <p:nvPr/>
          </p:nvSpPr>
          <p:spPr>
            <a:xfrm>
              <a:off x="8440690" y="3400425"/>
              <a:ext cx="286692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Actualización</a:t>
              </a:r>
              <a:endParaRPr/>
            </a:p>
          </p:txBody>
        </p:sp>
        <p:sp>
          <p:nvSpPr>
            <p:cNvPr id="7" name="Google Shape;170;p18">
              <a:extLst>
                <a:ext uri="{FF2B5EF4-FFF2-40B4-BE49-F238E27FC236}">
                  <a16:creationId xmlns:a16="http://schemas.microsoft.com/office/drawing/2014/main" id="{994B145B-B4F7-BDAF-989E-80045B179513}"/>
                </a:ext>
              </a:extLst>
            </p:cNvPr>
            <p:cNvSpPr txBox="1"/>
            <p:nvPr/>
          </p:nvSpPr>
          <p:spPr>
            <a:xfrm>
              <a:off x="8508950" y="3924300"/>
              <a:ext cx="27304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Puerto: </a:t>
              </a:r>
              <a:r>
                <a:rPr lang="en-US" sz="1500" b="1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5003</a:t>
              </a:r>
              <a:b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Modificación</a:t>
              </a: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de </a:t>
              </a:r>
              <a:r>
                <a:rPr lang="en-US" sz="1500" b="0" i="0" u="none" strike="noStrike" cap="none" dirty="0" err="1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registros</a:t>
              </a: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de </a:t>
              </a:r>
              <a:r>
                <a:rPr lang="en-US" sz="1500" b="0" i="0" u="none" strike="noStrike" cap="none" dirty="0" err="1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citas</a:t>
              </a: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existentes</a:t>
              </a:r>
              <a:r>
                <a:rPr lang="en-US" sz="1500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dirty="0"/>
            </a:p>
          </p:txBody>
        </p: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66C6061C-8A1E-49A7-624D-C7F084459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9464" y="0"/>
            <a:ext cx="6517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08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69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PERSISTENCIA CON MYSQL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2162175"/>
            <a:ext cx="52387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3209925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Base de Datos Centralizada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3676650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Utilizamos un contenedor Docker oficial de MySQL con un script init.sql que automatiza la creación de la tabla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'citas'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38200" y="44958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52500" y="44958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Persistencia mediante volúmenes Docker.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38200" y="48006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952500" y="48006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Conexiones concurrentes optimizadas.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38200" y="51054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52500" y="510540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Esquema relacional para integridad.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411CA1D-BA3A-D9FC-5BC6-4441CADDD3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0" y="1414463"/>
            <a:ext cx="615315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691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5">
            <a:alphaModFix/>
          </a:blip>
          <a:srcRect r="14546"/>
          <a:stretch>
            <a:fillRect/>
          </a:stretch>
        </p:blipFill>
        <p:spPr>
          <a:xfrm>
            <a:off x="7248525" y="3281908"/>
            <a:ext cx="447675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ORQUESTACIÓN CON DOCKER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7248524" y="2366962"/>
            <a:ext cx="43719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Docker Compose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definir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ejecutar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aplicación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5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contenedores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un solo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comando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/>
          </a:p>
        </p:txBody>
      </p:sp>
      <p:sp>
        <p:nvSpPr>
          <p:cNvPr id="215" name="Google Shape;215;p21"/>
          <p:cNvSpPr txBox="1"/>
          <p:nvPr/>
        </p:nvSpPr>
        <p:spPr>
          <a:xfrm>
            <a:off x="7353300" y="4767262"/>
            <a:ext cx="42672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Garantiza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red interna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comunicación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fluida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entre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ESB y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servicios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SOAP.</a:t>
            </a:r>
            <a:endParaRPr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E48FF34-BE46-CDE8-AE68-1735038A7029}"/>
              </a:ext>
            </a:extLst>
          </p:cNvPr>
          <p:cNvGrpSpPr/>
          <p:nvPr/>
        </p:nvGrpSpPr>
        <p:grpSpPr>
          <a:xfrm>
            <a:off x="136716" y="1913142"/>
            <a:ext cx="6871470" cy="3962116"/>
            <a:chOff x="2214" y="1743075"/>
            <a:chExt cx="6379536" cy="3678465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F4BD83E5-5694-A825-FD24-FB02647E7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74552"/>
            <a:stretch>
              <a:fillRect/>
            </a:stretch>
          </p:blipFill>
          <p:spPr>
            <a:xfrm>
              <a:off x="2215" y="1743075"/>
              <a:ext cx="6379535" cy="1745229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5425A6B6-15E2-E7E7-02FC-002706544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44595" b="27212"/>
            <a:stretch>
              <a:fillRect/>
            </a:stretch>
          </p:blipFill>
          <p:spPr>
            <a:xfrm>
              <a:off x="2214" y="3488079"/>
              <a:ext cx="6379535" cy="19334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MATRIZ DE CONECTIVIDAD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22"/>
          <p:cNvGraphicFramePr/>
          <p:nvPr/>
        </p:nvGraphicFramePr>
        <p:xfrm>
          <a:off x="571500" y="2538412"/>
          <a:ext cx="11049025" cy="2857500"/>
        </p:xfrm>
        <a:graphic>
          <a:graphicData uri="http://schemas.openxmlformats.org/drawingml/2006/table">
            <a:tbl>
              <a:tblPr firstRow="1" bandRow="1">
                <a:noFill/>
                <a:tableStyleId>{78CB8392-9693-447B-BC7F-43B806017C8A}</a:tableStyleId>
              </a:tblPr>
              <a:tblGrid>
                <a:gridCol w="32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Componente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Protocolo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Puerto / WSDL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Servicio Registro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SOAP 1.1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http://localhost:5001/?wsdl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Activo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Servicio Consulta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SOAP 1.1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http://localhost:5002/?wsdl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Activo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Servicio Actualización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SOAP 1.1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http://localhost:5003/?wsdl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Activo</a:t>
                      </a:r>
                      <a:endParaRPr dirty="0"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 App Consumer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HTTP / Zeep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Puerto 5000 (Internal)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Activo</a:t>
                      </a:r>
                      <a:endParaRPr dirty="0"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4" name="Google Shape;224;p22"/>
          <p:cNvSpPr/>
          <p:nvPr/>
        </p:nvSpPr>
        <p:spPr>
          <a:xfrm>
            <a:off x="571500" y="3695700"/>
            <a:ext cx="32396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3811190" y="3695700"/>
            <a:ext cx="2124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935265" y="3695700"/>
            <a:ext cx="3973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9908530" y="3695700"/>
            <a:ext cx="17119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71500" y="4257675"/>
            <a:ext cx="32396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811190" y="4257675"/>
            <a:ext cx="2124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935265" y="4257675"/>
            <a:ext cx="3973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908530" y="4257675"/>
            <a:ext cx="17119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4819650"/>
            <a:ext cx="32396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3811190" y="4819650"/>
            <a:ext cx="2124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935265" y="4819650"/>
            <a:ext cx="3973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9908530" y="4819650"/>
            <a:ext cx="17119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71500" y="5381625"/>
            <a:ext cx="32396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3811190" y="5381625"/>
            <a:ext cx="2124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935265" y="5381625"/>
            <a:ext cx="3973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9908530" y="5381625"/>
            <a:ext cx="17119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82918" y="39100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82918" y="447198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82918" y="503396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82918" y="33480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82918" y="33480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82918" y="39100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82918" y="447198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82918" y="5033962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67792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295275" y="2915542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¡Gracias por su atención!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571500" y="3515617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64748B"/>
                </a:solidFill>
                <a:latin typeface="Lato Light"/>
                <a:ea typeface="Lato Light"/>
                <a:cs typeface="Lato Light"/>
                <a:sym typeface="Lato Light"/>
              </a:rPr>
              <a:t>Demo</a:t>
            </a:r>
            <a:endParaRPr b="1" dirty="0"/>
          </a:p>
        </p:txBody>
      </p:sp>
      <p:sp>
        <p:nvSpPr>
          <p:cNvPr id="265" name="Google Shape;265;p24"/>
          <p:cNvSpPr txBox="1"/>
          <p:nvPr/>
        </p:nvSpPr>
        <p:spPr>
          <a:xfrm>
            <a:off x="571500" y="4780508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Proyecto: Gestión de Citas SOAP | Stack: Flask + Spyne + Docker + ESB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480</Words>
  <Application>Microsoft Office PowerPoint</Application>
  <PresentationFormat>Panorámica</PresentationFormat>
  <Paragraphs>85</Paragraphs>
  <Slides>13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Calibri</vt:lpstr>
      <vt:lpstr>Poppins</vt:lpstr>
      <vt:lpstr>Lato</vt:lpstr>
      <vt:lpstr>Lato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Rene Plaz</cp:lastModifiedBy>
  <cp:revision>4</cp:revision>
  <dcterms:modified xsi:type="dcterms:W3CDTF">2026-06-23T00:24:58Z</dcterms:modified>
</cp:coreProperties>
</file>